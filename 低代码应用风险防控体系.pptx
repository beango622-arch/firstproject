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19456"/>
            <a:ext cx="146304" cy="457200"/>
          </a:xfrm>
          <a:prstGeom prst="rect">
            <a:avLst/>
          </a:prstGeom>
          <a:solidFill>
            <a:srgbClr val="C70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77724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300" b="1">
                <a:solidFill>
                  <a:srgbClr val="333333"/>
                </a:solidFill>
                <a:latin typeface="Microsoft YaHei"/>
                <a:ea typeface="Microsoft YaHei"/>
              </a:rPr>
              <a:t>低代码应用风险防控体系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82880"/>
            <a:ext cx="3959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C70C22"/>
                </a:solidFill>
                <a:latin typeface="Microsoft YaHei"/>
                <a:ea typeface="Microsoft YaHei"/>
              </a:rPr>
              <a:t>招商银行</a:t>
            </a:r>
            <a:r>
              <a:rPr sz="1100" b="0">
                <a:solidFill>
                  <a:srgbClr val="6B7078"/>
                </a:solidFill>
                <a:latin typeface="Microsoft YaHei"/>
                <a:ea typeface="Microsoft YaHei"/>
              </a:rPr>
              <a:t>　|　</a:t>
            </a:r>
            <a:r>
              <a:rPr sz="1200" b="1">
                <a:solidFill>
                  <a:srgbClr val="C70C22"/>
                </a:solidFill>
                <a:latin typeface="Microsoft YaHei"/>
                <a:ea typeface="Microsoft YaHei"/>
              </a:rPr>
              <a:t>招行低代码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1457432" cy="25603"/>
          </a:xfrm>
          <a:prstGeom prst="rect">
            <a:avLst/>
          </a:prstGeom>
          <a:solidFill>
            <a:srgbClr val="C70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896112"/>
            <a:ext cx="11457432" cy="71323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950976"/>
            <a:ext cx="110642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8F0818"/>
                </a:solidFill>
                <a:latin typeface="Microsoft YaHei"/>
                <a:ea typeface="Microsoft YaHei"/>
              </a:rPr>
              <a:t>防控背景　</a:t>
            </a: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四大低代码平台（MP、飞码、编码通 1.0、编码通 2.0 与 CF）历经长期运营，存量应用体量庞大、历史风险持续沉淀，且常态化运行中新增风险不断涌现；既往人工排查覆盖不全、响应滞后，</a:t>
            </a:r>
            <a:r>
              <a:rPr sz="1050" b="1">
                <a:solidFill>
                  <a:srgbClr val="333333"/>
                </a:solidFill>
                <a:latin typeface="Microsoft YaHei"/>
                <a:ea typeface="Microsoft YaHei"/>
              </a:rPr>
              <a:t>亟需构建统一的应用风险防控体系，推动风险管理由“事后处置”向“常态化、平台化、自动化”转型升级。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19072"/>
            <a:ext cx="118872" cy="237744"/>
          </a:xfrm>
          <a:prstGeom prst="rect">
            <a:avLst/>
          </a:prstGeom>
          <a:solidFill>
            <a:srgbClr val="C70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700784"/>
            <a:ext cx="3657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8F0818"/>
                </a:solidFill>
                <a:latin typeface="Microsoft YaHei"/>
                <a:ea typeface="Microsoft YaHei"/>
              </a:rPr>
              <a:t>防控成果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993392"/>
            <a:ext cx="5591556" cy="896112"/>
          </a:xfrm>
          <a:prstGeom prst="roundRect">
            <a:avLst/>
          </a:prstGeom>
          <a:solidFill>
            <a:srgbClr val="FCEFF1"/>
          </a:solidFill>
          <a:ln w="15875">
            <a:solidFill>
              <a:srgbClr val="E3A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" y="1993392"/>
            <a:ext cx="2331720" cy="310896"/>
          </a:xfrm>
          <a:prstGeom prst="roundRect">
            <a:avLst/>
          </a:prstGeom>
          <a:solidFill>
            <a:srgbClr val="C70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011680"/>
            <a:ext cx="2331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整体风险降低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020824"/>
            <a:ext cx="298551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6B7078"/>
                </a:solidFill>
                <a:latin typeface="Microsoft YaHei"/>
                <a:ea typeface="Microsoft YaHei"/>
              </a:rPr>
              <a:t>体系化治理推动各类应用风险持续收敛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359152"/>
            <a:ext cx="513435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8F0818"/>
                </a:solidFill>
                <a:latin typeface="Microsoft YaHei"/>
                <a:ea typeface="Microsoft YaHei"/>
              </a:rPr>
              <a:t>· 数据安全风险降低：</a:t>
            </a:r>
            <a:r>
              <a:rPr sz="900" b="0">
                <a:solidFill>
                  <a:srgbClr val="6B7078"/>
                </a:solidFill>
                <a:latin typeface="Microsoft YaHei"/>
                <a:ea typeface="Microsoft YaHei"/>
              </a:rPr>
              <a:t>[待补充]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8F0818"/>
                </a:solidFill>
                <a:latin typeface="Microsoft YaHei"/>
                <a:ea typeface="Microsoft YaHei"/>
              </a:rPr>
              <a:t>· 运行安全风险降低：</a:t>
            </a:r>
            <a:r>
              <a:rPr sz="900" b="0">
                <a:solidFill>
                  <a:srgbClr val="6B7078"/>
                </a:solidFill>
                <a:latin typeface="Microsoft YaHei"/>
                <a:ea typeface="Microsoft YaHei"/>
              </a:rPr>
              <a:t>[待补充]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8F0818"/>
                </a:solidFill>
                <a:latin typeface="Microsoft YaHei"/>
                <a:ea typeface="Microsoft YaHei"/>
              </a:rPr>
              <a:t>· 研发管理风险降低：</a:t>
            </a:r>
            <a:r>
              <a:rPr sz="900" b="0">
                <a:solidFill>
                  <a:srgbClr val="6B7078"/>
                </a:solidFill>
                <a:latin typeface="Microsoft YaHei"/>
                <a:ea typeface="Microsoft YaHei"/>
              </a:rPr>
              <a:t>[待补充]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1636" y="1993392"/>
            <a:ext cx="5591556" cy="896112"/>
          </a:xfrm>
          <a:prstGeom prst="roundRect">
            <a:avLst/>
          </a:prstGeom>
          <a:solidFill>
            <a:srgbClr val="FCEFF1"/>
          </a:solidFill>
          <a:ln w="15875">
            <a:solidFill>
              <a:srgbClr val="E3A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31636" y="1993392"/>
            <a:ext cx="2331720" cy="310896"/>
          </a:xfrm>
          <a:prstGeom prst="roundRect">
            <a:avLst/>
          </a:prstGeom>
          <a:solidFill>
            <a:srgbClr val="C70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1636" y="2011680"/>
            <a:ext cx="2331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整体自动化率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6236" y="2020824"/>
            <a:ext cx="298551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6B7078"/>
                </a:solidFill>
                <a:latin typeface="Microsoft YaHei"/>
                <a:ea typeface="Microsoft YaHei"/>
              </a:rPr>
              <a:t>治理能力持续向自动化闭环演进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7668" y="2359152"/>
            <a:ext cx="513435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8F0818"/>
                </a:solidFill>
                <a:latin typeface="Microsoft YaHei"/>
                <a:ea typeface="Microsoft YaHei"/>
              </a:rPr>
              <a:t>· 数据安全治理自动化：</a:t>
            </a:r>
            <a:r>
              <a:rPr sz="900" b="0">
                <a:solidFill>
                  <a:srgbClr val="6B7078"/>
                </a:solidFill>
                <a:latin typeface="Microsoft YaHei"/>
                <a:ea typeface="Microsoft YaHei"/>
              </a:rPr>
              <a:t>[待补充]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8F0818"/>
                </a:solidFill>
                <a:latin typeface="Microsoft YaHei"/>
                <a:ea typeface="Microsoft YaHei"/>
              </a:rPr>
              <a:t>· 运行安全治理自动化：</a:t>
            </a:r>
            <a:r>
              <a:rPr sz="900" b="0">
                <a:solidFill>
                  <a:srgbClr val="6B7078"/>
                </a:solidFill>
                <a:latin typeface="Microsoft YaHei"/>
                <a:ea typeface="Microsoft YaHei"/>
              </a:rPr>
              <a:t>[待补充]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8F0818"/>
                </a:solidFill>
                <a:latin typeface="Microsoft YaHei"/>
                <a:ea typeface="Microsoft YaHei"/>
              </a:rPr>
              <a:t>· 研发管理治理自动化：</a:t>
            </a:r>
            <a:r>
              <a:rPr sz="900" b="0">
                <a:solidFill>
                  <a:srgbClr val="6B7078"/>
                </a:solidFill>
                <a:latin typeface="Microsoft YaHei"/>
                <a:ea typeface="Microsoft YaHei"/>
              </a:rPr>
              <a:t>[待补充]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072384"/>
            <a:ext cx="118872" cy="237744"/>
          </a:xfrm>
          <a:prstGeom prst="rect">
            <a:avLst/>
          </a:prstGeom>
          <a:solidFill>
            <a:srgbClr val="C70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054096"/>
            <a:ext cx="3657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8F0818"/>
                </a:solidFill>
                <a:latin typeface="Microsoft YaHei"/>
                <a:ea typeface="Microsoft YaHei"/>
              </a:rPr>
              <a:t>防控进展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346704"/>
            <a:ext cx="5591556" cy="13898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A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419856"/>
            <a:ext cx="52257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8F0818"/>
                </a:solidFill>
                <a:latin typeface="Microsoft YaHei"/>
                <a:ea typeface="Microsoft YaHei"/>
              </a:rPr>
              <a:t>风险防控闭环飞轮</a:t>
            </a:r>
            <a:r>
              <a:rPr sz="900" b="0">
                <a:solidFill>
                  <a:srgbClr val="6B7078"/>
                </a:solidFill>
                <a:latin typeface="Microsoft YaHei"/>
                <a:ea typeface="Microsoft YaHei"/>
              </a:rPr>
              <a:t>　持续收敛风险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" y="3694176"/>
            <a:ext cx="1546860" cy="658368"/>
          </a:xfrm>
          <a:prstGeom prst="roundRect">
            <a:avLst/>
          </a:prstGeom>
          <a:solidFill>
            <a:srgbClr val="FCEFF1"/>
          </a:solidFill>
          <a:ln w="15875">
            <a:solidFill>
              <a:srgbClr val="C70C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8F0818"/>
                </a:solidFill>
                <a:latin typeface="Microsoft YaHei"/>
                <a:ea typeface="Microsoft YaHei"/>
              </a:rPr>
              <a:t>风险识别</a:t>
            </a:r>
          </a:p>
          <a:p>
            <a:pPr algn="ctr">
              <a:lnSpc>
                <a:spcPct val="100000"/>
              </a:lnSpc>
            </a:pPr>
            <a:r>
              <a:rPr sz="830" b="0">
                <a:solidFill>
                  <a:srgbClr val="333333"/>
                </a:solidFill>
                <a:latin typeface="Microsoft YaHei"/>
                <a:ea typeface="Microsoft YaHei"/>
              </a:rPr>
              <a:t>全平台自动扫描
数据回流风险库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095499" y="3904488"/>
            <a:ext cx="274320" cy="237744"/>
          </a:xfrm>
          <a:prstGeom prst="rightArrow">
            <a:avLst/>
          </a:prstGeom>
          <a:solidFill>
            <a:srgbClr val="C70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388108" y="3694176"/>
            <a:ext cx="1546860" cy="658368"/>
          </a:xfrm>
          <a:prstGeom prst="roundRect">
            <a:avLst/>
          </a:prstGeom>
          <a:solidFill>
            <a:srgbClr val="FCEFF1"/>
          </a:solidFill>
          <a:ln w="15875">
            <a:solidFill>
              <a:srgbClr val="C70C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8F0818"/>
                </a:solidFill>
                <a:latin typeface="Microsoft YaHei"/>
                <a:ea typeface="Microsoft YaHei"/>
              </a:rPr>
              <a:t>任务下发</a:t>
            </a:r>
          </a:p>
          <a:p>
            <a:pPr algn="ctr">
              <a:lnSpc>
                <a:spcPct val="100000"/>
              </a:lnSpc>
            </a:pPr>
            <a:r>
              <a:rPr sz="830" b="0">
                <a:solidFill>
                  <a:srgbClr val="333333"/>
                </a:solidFill>
                <a:latin typeface="Microsoft YaHei"/>
                <a:ea typeface="Microsoft YaHei"/>
              </a:rPr>
              <a:t>任务自动转化
零人工派单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3953256" y="3904488"/>
            <a:ext cx="274320" cy="237744"/>
          </a:xfrm>
          <a:prstGeom prst="rightArrow">
            <a:avLst/>
          </a:prstGeom>
          <a:solidFill>
            <a:srgbClr val="C70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245864" y="3694176"/>
            <a:ext cx="1546860" cy="658368"/>
          </a:xfrm>
          <a:prstGeom prst="roundRect">
            <a:avLst/>
          </a:prstGeom>
          <a:solidFill>
            <a:srgbClr val="FCEFF1"/>
          </a:solidFill>
          <a:ln w="15875">
            <a:solidFill>
              <a:srgbClr val="C70C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8F0818"/>
                </a:solidFill>
                <a:latin typeface="Microsoft YaHei"/>
                <a:ea typeface="Microsoft YaHei"/>
              </a:rPr>
              <a:t>处置归档</a:t>
            </a:r>
          </a:p>
          <a:p>
            <a:pPr algn="ctr">
              <a:lnSpc>
                <a:spcPct val="100000"/>
              </a:lnSpc>
            </a:pPr>
            <a:r>
              <a:rPr sz="830" b="0">
                <a:solidFill>
                  <a:srgbClr val="333333"/>
                </a:solidFill>
                <a:latin typeface="Microsoft YaHei"/>
                <a:ea typeface="Microsoft YaHei"/>
              </a:rPr>
              <a:t>持续跟进处置
支持回溯查询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425696"/>
            <a:ext cx="52257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6B7078"/>
                </a:solidFill>
                <a:latin typeface="Microsoft YaHei"/>
                <a:ea typeface="Microsoft YaHei"/>
              </a:rPr>
              <a:t>处置结果回流风险数据库，驱动下一轮识别，形成持续运转、持续收敛的防控飞轮。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828031"/>
            <a:ext cx="118872" cy="237744"/>
          </a:xfrm>
          <a:prstGeom prst="rect">
            <a:avLst/>
          </a:prstGeom>
          <a:solidFill>
            <a:srgbClr val="C70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4809744"/>
            <a:ext cx="3657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8F0818"/>
                </a:solidFill>
                <a:latin typeface="Microsoft YaHei"/>
                <a:ea typeface="Microsoft YaHei"/>
              </a:rPr>
              <a:t>问题与挑战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5102352"/>
            <a:ext cx="5591556" cy="146304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5230368"/>
            <a:ext cx="5134356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50" b="1">
                <a:solidFill>
                  <a:srgbClr val="C70C22"/>
                </a:solidFill>
                <a:latin typeface="Microsoft YaHei"/>
                <a:ea typeface="Microsoft YaHei"/>
              </a:rPr>
              <a:t>1 </a:t>
            </a: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高风险应用识别不够精准，难以有效捕捉真正的高风险应用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50" b="1">
                <a:solidFill>
                  <a:srgbClr val="C70C22"/>
                </a:solidFill>
                <a:latin typeface="Microsoft YaHei"/>
                <a:ea typeface="Microsoft YaHei"/>
              </a:rPr>
              <a:t>2 </a:t>
            </a: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业务侧风险管控意识薄弱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50" b="1">
                <a:solidFill>
                  <a:srgbClr val="C70C22"/>
                </a:solidFill>
                <a:latin typeface="Microsoft YaHei"/>
                <a:ea typeface="Microsoft YaHei"/>
              </a:rPr>
              <a:t>3 </a:t>
            </a: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用户处置响应意愿不足，闭环“最后一公里”难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50" b="1">
                <a:solidFill>
                  <a:srgbClr val="C70C22"/>
                </a:solidFill>
                <a:latin typeface="Microsoft YaHei"/>
                <a:ea typeface="Microsoft YaHei"/>
              </a:rPr>
              <a:t>4 </a:t>
            </a: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应用风险量化与分级标准缺失，度量体系不健全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50" b="1">
                <a:solidFill>
                  <a:srgbClr val="C70C22"/>
                </a:solidFill>
                <a:latin typeface="Microsoft YaHei"/>
                <a:ea typeface="Microsoft YaHei"/>
              </a:rPr>
              <a:t>5 </a:t>
            </a: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治理偏事后被动，源头预防与长效机制欠缺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1636" y="3072384"/>
            <a:ext cx="118872" cy="237744"/>
          </a:xfrm>
          <a:prstGeom prst="rect">
            <a:avLst/>
          </a:prstGeom>
          <a:solidFill>
            <a:srgbClr val="C70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32804" y="3054096"/>
            <a:ext cx="3657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8F0818"/>
                </a:solidFill>
                <a:latin typeface="Microsoft YaHei"/>
                <a:ea typeface="Microsoft YaHei"/>
              </a:rPr>
              <a:t>未来计划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11796" y="3054096"/>
            <a:ext cx="4206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6B7078"/>
                </a:solidFill>
                <a:latin typeface="Microsoft YaHei"/>
                <a:ea typeface="Microsoft YaHei"/>
              </a:rPr>
              <a:t>（对应左侧问题，逐项施策）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31636" y="3346704"/>
            <a:ext cx="5591556" cy="32186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A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05956" y="3529584"/>
            <a:ext cx="5088636" cy="2898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C70C22"/>
                </a:solidFill>
                <a:latin typeface="Microsoft YaHei"/>
                <a:ea typeface="Microsoft YaHei"/>
              </a:rPr>
              <a:t>1 </a:t>
            </a:r>
            <a:r>
              <a:rPr sz="1100" b="1">
                <a:solidFill>
                  <a:srgbClr val="8F0818"/>
                </a:solidFill>
                <a:latin typeface="Microsoft YaHei"/>
                <a:ea typeface="Microsoft YaHei"/>
              </a:rPr>
              <a:t>精准识别高风险应用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</a:rPr>
              <a:t>　　</a:t>
            </a:r>
            <a:r>
              <a:rPr sz="950" b="0">
                <a:solidFill>
                  <a:srgbClr val="333333"/>
                </a:solidFill>
                <a:latin typeface="Microsoft YaHei"/>
                <a:ea typeface="Microsoft YaHei"/>
              </a:rPr>
              <a:t>构建多维风险特征与分级评估模型，精准定位高风险应用，支撑重点治理与优先处置。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C70C22"/>
                </a:solidFill>
                <a:latin typeface="Microsoft YaHei"/>
                <a:ea typeface="Microsoft YaHei"/>
              </a:rPr>
              <a:t>2 </a:t>
            </a:r>
            <a:r>
              <a:rPr sz="1100" b="1">
                <a:solidFill>
                  <a:srgbClr val="8F0818"/>
                </a:solidFill>
                <a:latin typeface="Microsoft YaHei"/>
                <a:ea typeface="Microsoft YaHei"/>
              </a:rPr>
              <a:t>培育风险管控文化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</a:rPr>
              <a:t>　　</a:t>
            </a:r>
            <a:r>
              <a:rPr sz="950" b="0">
                <a:solidFill>
                  <a:srgbClr val="333333"/>
                </a:solidFill>
                <a:latin typeface="Microsoft YaHei"/>
                <a:ea typeface="Microsoft YaHei"/>
              </a:rPr>
              <a:t>健全风险宣贯与培训机制，将风险指标纳入应用/团队考核，推动风控意识内化。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C70C22"/>
                </a:solidFill>
                <a:latin typeface="Microsoft YaHei"/>
                <a:ea typeface="Microsoft YaHei"/>
              </a:rPr>
              <a:t>3 </a:t>
            </a:r>
            <a:r>
              <a:rPr sz="1100" b="1">
                <a:solidFill>
                  <a:srgbClr val="8F0818"/>
                </a:solidFill>
                <a:latin typeface="Microsoft YaHei"/>
                <a:ea typeface="Microsoft YaHei"/>
              </a:rPr>
              <a:t>提升处置闭环效率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</a:rPr>
              <a:t>　　</a:t>
            </a:r>
            <a:r>
              <a:rPr sz="950" b="0">
                <a:solidFill>
                  <a:srgbClr val="333333"/>
                </a:solidFill>
                <a:latin typeface="Microsoft YaHei"/>
                <a:ea typeface="Microsoft YaHei"/>
              </a:rPr>
              <a:t>完善督办与激励机制（限期整改、分级通报等），提高用户填报率与整改时效。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C70C22"/>
                </a:solidFill>
                <a:latin typeface="Microsoft YaHei"/>
                <a:ea typeface="Microsoft YaHei"/>
              </a:rPr>
              <a:t>4 </a:t>
            </a:r>
            <a:r>
              <a:rPr sz="1100" b="1">
                <a:solidFill>
                  <a:srgbClr val="8F0818"/>
                </a:solidFill>
                <a:latin typeface="Microsoft YaHei"/>
                <a:ea typeface="Microsoft YaHei"/>
              </a:rPr>
              <a:t>建立风险度量能力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</a:rPr>
              <a:t>　　</a:t>
            </a:r>
            <a:r>
              <a:rPr sz="950" b="0">
                <a:solidFill>
                  <a:srgbClr val="333333"/>
                </a:solidFill>
                <a:latin typeface="Microsoft YaHei"/>
                <a:ea typeface="Microsoft YaHei"/>
              </a:rPr>
              <a:t>构建应用风险量化与分级模型，上线风险防控量化看板，实现风险可视、可比、可经营。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C70C22"/>
                </a:solidFill>
                <a:latin typeface="Microsoft YaHei"/>
                <a:ea typeface="Microsoft YaHei"/>
              </a:rPr>
              <a:t>5 </a:t>
            </a:r>
            <a:r>
              <a:rPr sz="1100" b="1">
                <a:solidFill>
                  <a:srgbClr val="8F0818"/>
                </a:solidFill>
                <a:latin typeface="Microsoft YaHei"/>
                <a:ea typeface="Microsoft YaHei"/>
              </a:rPr>
              <a:t>推动风险防控左移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</a:rPr>
              <a:t>　　</a:t>
            </a:r>
            <a:r>
              <a:rPr sz="950" b="0">
                <a:solidFill>
                  <a:srgbClr val="333333"/>
                </a:solidFill>
                <a:latin typeface="Microsoft YaHei"/>
                <a:ea typeface="Microsoft YaHei"/>
              </a:rPr>
              <a:t>将防控能力前置到研发态源头拦截，沉淀治理标准与红线规则，形成制度化长效机制。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620256"/>
            <a:ext cx="114574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6B7078"/>
                </a:solidFill>
                <a:latin typeface="Microsoft YaHei"/>
                <a:ea typeface="Microsoft YaHei"/>
              </a:rPr>
              <a:t>注：防控成果中标 [待补充] 处为年底回填的实际结果数据；风险维度按 数据安全 / 运行安全 / 研发管理 三类统计。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