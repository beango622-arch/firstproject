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56032" y="502920"/>
            <a:ext cx="246888" cy="0"/>
          </a:xfrm>
          <a:prstGeom prst="line">
            <a:avLst/>
          </a:prstGeom>
          <a:ln w="12700">
            <a:solidFill>
              <a:srgbClr val="C9C2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56032" y="256032"/>
            <a:ext cx="0" cy="246888"/>
          </a:xfrm>
          <a:prstGeom prst="line">
            <a:avLst/>
          </a:prstGeom>
          <a:ln w="12700">
            <a:solidFill>
              <a:srgbClr val="C9C2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86032" y="6355080"/>
            <a:ext cx="246888" cy="0"/>
          </a:xfrm>
          <a:prstGeom prst="line">
            <a:avLst/>
          </a:prstGeom>
          <a:ln w="12700">
            <a:solidFill>
              <a:srgbClr val="C9C2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932920" y="6355080"/>
            <a:ext cx="0" cy="246888"/>
          </a:xfrm>
          <a:prstGeom prst="line">
            <a:avLst/>
          </a:prstGeom>
          <a:ln w="12700">
            <a:solidFill>
              <a:srgbClr val="C9C2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B8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92608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B81F24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8C8C8C"/>
                </a:solidFill>
                <a:latin typeface="Noto Sans CJK SC"/>
                <a:ea typeface="Noto Sans CJK SC"/>
              </a:rPr>
              <a:t>CHAPTER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035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Noto Sans CJK SC"/>
                <a:ea typeface="Noto Sans CJK SC"/>
              </a:rPr>
              <a:t>第 4 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9184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B2B2B"/>
                </a:solidFill>
                <a:latin typeface="Noto Sans CJK SC"/>
                <a:ea typeface="Noto Sans CJK SC"/>
              </a:rPr>
              <a:t>分阶段实施路径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475488"/>
            <a:ext cx="82296" cy="82296"/>
          </a:xfrm>
          <a:prstGeom prst="rect">
            <a:avLst/>
          </a:prstGeom>
          <a:solidFill>
            <a:srgbClr val="B8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365760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产品运营组</a:t>
            </a: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　零售业务数字化转型三年行动方案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960120"/>
            <a:ext cx="11274552" cy="10972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0789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C8C8C"/>
                </a:solidFill>
                <a:latin typeface="Noto Sans CJK SC"/>
                <a:ea typeface="Noto Sans CJK SC"/>
              </a:rPr>
              <a:t>筑基</a:t>
            </a:r>
            <a:r>
              <a:rPr sz="1050" b="0" i="0">
                <a:solidFill>
                  <a:srgbClr val="C9C2B6"/>
                </a:solidFill>
                <a:latin typeface="Noto Sans CJK SC"/>
                <a:ea typeface="Noto Sans CJK SC"/>
              </a:rPr>
              <a:t>  ·  </a:t>
            </a:r>
            <a:r>
              <a:rPr sz="1050" b="0" i="0">
                <a:solidFill>
                  <a:srgbClr val="8C8C8C"/>
                </a:solidFill>
                <a:latin typeface="Noto Sans CJK SC"/>
                <a:ea typeface="Noto Sans CJK SC"/>
              </a:rPr>
              <a:t>验证</a:t>
            </a:r>
            <a:r>
              <a:rPr sz="1050" b="0" i="0">
                <a:solidFill>
                  <a:srgbClr val="C9C2B6"/>
                </a:solidFill>
                <a:latin typeface="Noto Sans CJK SC"/>
                <a:ea typeface="Noto Sans CJK SC"/>
              </a:rPr>
              <a:t>  ·  </a:t>
            </a:r>
            <a:r>
              <a:rPr sz="1050" b="0" i="0">
                <a:solidFill>
                  <a:srgbClr val="8C8C8C"/>
                </a:solidFill>
                <a:latin typeface="Noto Sans CJK SC"/>
                <a:ea typeface="Noto Sans CJK SC"/>
              </a:rPr>
              <a:t>推广</a:t>
            </a:r>
            <a:r>
              <a:rPr sz="1050" b="0" i="0">
                <a:solidFill>
                  <a:srgbClr val="C9C2B6"/>
                </a:solidFill>
                <a:latin typeface="Noto Sans CJK SC"/>
                <a:ea typeface="Noto Sans CJK SC"/>
              </a:rPr>
              <a:t>  ·  </a:t>
            </a:r>
            <a:r>
              <a:rPr sz="1050" b="0" i="0">
                <a:solidFill>
                  <a:srgbClr val="8C8C8C"/>
                </a:solidFill>
                <a:latin typeface="Noto Sans CJK SC"/>
                <a:ea typeface="Noto Sans CJK SC"/>
              </a:rPr>
              <a:t>优化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" y="1938528"/>
            <a:ext cx="0" cy="2962656"/>
          </a:xfrm>
          <a:prstGeom prst="line">
            <a:avLst/>
          </a:prstGeom>
          <a:ln w="12700">
            <a:solidFill>
              <a:srgbClr val="E39A9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1481328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" y="1865376"/>
            <a:ext cx="146304" cy="146304"/>
          </a:xfrm>
          <a:prstGeom prst="ellipse">
            <a:avLst/>
          </a:prstGeom>
          <a:solidFill>
            <a:srgbClr val="F4F1EB"/>
          </a:solidFill>
          <a:ln w="19050">
            <a:solidFill>
              <a:srgbClr val="B8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157276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B81F24"/>
                </a:solidFill>
                <a:latin typeface="Noto Sans CJK SC"/>
                <a:ea typeface="Noto Sans CJK SC"/>
              </a:rPr>
              <a:t>01</a:t>
            </a:r>
            <a:r>
              <a:rPr sz="1050" b="0" i="0">
                <a:solidFill>
                  <a:srgbClr val="8C8C8C"/>
                </a:solidFill>
                <a:latin typeface="Noto Sans CJK SC"/>
                <a:ea typeface="Noto Sans CJK SC"/>
              </a:rPr>
              <a:t>  2026 Q3-Q4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18105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Noto Sans CJK SC"/>
                <a:ea typeface="Noto Sans CJK SC"/>
              </a:rPr>
              <a:t>筑基阶段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210312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Noto Sans CJK SC"/>
                <a:ea typeface="Noto Sans CJK SC"/>
              </a:rPr>
              <a:t>客户数据中台上线、试点网点改造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46888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" y="2852928"/>
            <a:ext cx="146304" cy="146304"/>
          </a:xfrm>
          <a:prstGeom prst="ellipse">
            <a:avLst/>
          </a:prstGeom>
          <a:solidFill>
            <a:srgbClr val="F4F1EB"/>
          </a:solidFill>
          <a:ln w="19050">
            <a:solidFill>
              <a:srgbClr val="B8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2560320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B81F24"/>
                </a:solidFill>
                <a:latin typeface="Noto Sans CJK SC"/>
                <a:ea typeface="Noto Sans CJK SC"/>
              </a:rPr>
              <a:t>02</a:t>
            </a:r>
            <a:r>
              <a:rPr sz="1050" b="0" i="0">
                <a:solidFill>
                  <a:srgbClr val="8C8C8C"/>
                </a:solidFill>
                <a:latin typeface="Noto Sans CJK SC"/>
                <a:ea typeface="Noto Sans CJK SC"/>
              </a:rPr>
              <a:t>  2027 Q1-Q2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27980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Noto Sans CJK SC"/>
                <a:ea typeface="Noto Sans CJK SC"/>
              </a:rPr>
              <a:t>验证阶段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09067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Noto Sans CJK SC"/>
                <a:ea typeface="Noto Sans CJK SC"/>
              </a:rPr>
              <a:t>20家试点网点运营，智能投顾灰度上线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456432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8640" y="3840480"/>
            <a:ext cx="146304" cy="146304"/>
          </a:xfrm>
          <a:prstGeom prst="ellipse">
            <a:avLst/>
          </a:prstGeom>
          <a:solidFill>
            <a:srgbClr val="F4F1EB"/>
          </a:solidFill>
          <a:ln w="19050">
            <a:solidFill>
              <a:srgbClr val="B8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3547872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B81F24"/>
                </a:solidFill>
                <a:latin typeface="Noto Sans CJK SC"/>
                <a:ea typeface="Noto Sans CJK SC"/>
              </a:rPr>
              <a:t>03</a:t>
            </a:r>
            <a:r>
              <a:rPr sz="1050" b="0" i="0">
                <a:solidFill>
                  <a:srgbClr val="8C8C8C"/>
                </a:solidFill>
                <a:latin typeface="Noto Sans CJK SC"/>
                <a:ea typeface="Noto Sans CJK SC"/>
              </a:rPr>
              <a:t>  2027 Q3-2028 Q2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378561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Noto Sans CJK SC"/>
                <a:ea typeface="Noto Sans CJK SC"/>
              </a:rPr>
              <a:t>推广阶段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07822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Noto Sans CJK SC"/>
                <a:ea typeface="Noto Sans CJK SC"/>
              </a:rPr>
              <a:t>全行网点分批推广，产品体系全面上线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443984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8640" y="4828032"/>
            <a:ext cx="146304" cy="146304"/>
          </a:xfrm>
          <a:prstGeom prst="ellipse">
            <a:avLst/>
          </a:prstGeom>
          <a:solidFill>
            <a:srgbClr val="F4F1EB"/>
          </a:solidFill>
          <a:ln w="19050">
            <a:solidFill>
              <a:srgbClr val="B8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4535424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B81F24"/>
                </a:solidFill>
                <a:latin typeface="Noto Sans CJK SC"/>
                <a:ea typeface="Noto Sans CJK SC"/>
              </a:rPr>
              <a:t>04</a:t>
            </a:r>
            <a:r>
              <a:rPr sz="1050" b="0" i="0">
                <a:solidFill>
                  <a:srgbClr val="8C8C8C"/>
                </a:solidFill>
                <a:latin typeface="Noto Sans CJK SC"/>
                <a:ea typeface="Noto Sans CJK SC"/>
              </a:rPr>
              <a:t>  2028 Q3-Q4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" y="477316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Noto Sans CJK SC"/>
                <a:ea typeface="Noto Sans CJK SC"/>
              </a:rPr>
              <a:t>优化阶段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" y="506577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Noto Sans CJK SC"/>
                <a:ea typeface="Noto Sans CJK SC"/>
              </a:rPr>
              <a:t>效果复盘、模型迭代与成本优化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33672" y="1097280"/>
            <a:ext cx="7498079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225">
            <a:solidFill>
              <a:srgbClr val="B8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33672" y="1225295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Noto Sans CJK SC"/>
                <a:ea typeface="Noto Sans CJK SC"/>
              </a:rPr>
              <a:t>四阶段实施路径甘特图（2026Q3 - 2028Q4）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193792" y="1627631"/>
            <a:ext cx="0" cy="2331721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820155" y="1627631"/>
            <a:ext cx="0" cy="2331721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46520" y="1627631"/>
            <a:ext cx="0" cy="2331721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072883" y="1627631"/>
            <a:ext cx="0" cy="2331721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699248" y="1627631"/>
            <a:ext cx="0" cy="2331721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25612" y="1627631"/>
            <a:ext cx="0" cy="2331721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51976" y="1627631"/>
            <a:ext cx="0" cy="2331721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578340" y="1627631"/>
            <a:ext cx="0" cy="2331721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204704" y="1627631"/>
            <a:ext cx="0" cy="2331721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831067" y="1627631"/>
            <a:ext cx="0" cy="2331721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457432" y="1627631"/>
            <a:ext cx="0" cy="2331721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193792" y="1627631"/>
            <a:ext cx="6263640" cy="0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193792" y="2210561"/>
            <a:ext cx="6263640" cy="0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193792" y="2793491"/>
            <a:ext cx="6263640" cy="0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93792" y="3376422"/>
            <a:ext cx="6263640" cy="0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193792" y="3959352"/>
            <a:ext cx="6263640" cy="0"/>
          </a:xfrm>
          <a:prstGeom prst="line">
            <a:avLst/>
          </a:prstGeom>
          <a:ln w="6350">
            <a:solidFill>
              <a:srgbClr val="ECE6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416552" y="1627631"/>
            <a:ext cx="685800" cy="5829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B2B"/>
                </a:solidFill>
                <a:latin typeface="Noto Sans CJK SC"/>
                <a:ea typeface="Noto Sans CJK SC"/>
              </a:rPr>
              <a:t>筑基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93792" y="1773364"/>
            <a:ext cx="1252728" cy="291465"/>
          </a:xfrm>
          <a:prstGeom prst="rect">
            <a:avLst/>
          </a:prstGeom>
          <a:solidFill>
            <a:srgbClr val="B8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16552" y="2210561"/>
            <a:ext cx="685800" cy="5829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B2B"/>
                </a:solidFill>
                <a:latin typeface="Noto Sans CJK SC"/>
                <a:ea typeface="Noto Sans CJK SC"/>
              </a:rPr>
              <a:t>验证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46520" y="2356294"/>
            <a:ext cx="1252728" cy="291465"/>
          </a:xfrm>
          <a:prstGeom prst="rect">
            <a:avLst/>
          </a:prstGeom>
          <a:solidFill>
            <a:srgbClr val="B8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16552" y="2793491"/>
            <a:ext cx="685800" cy="5829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B2B"/>
                </a:solidFill>
                <a:latin typeface="Noto Sans CJK SC"/>
                <a:ea typeface="Noto Sans CJK SC"/>
              </a:rPr>
              <a:t>推广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99248" y="2939224"/>
            <a:ext cx="2505456" cy="291465"/>
          </a:xfrm>
          <a:prstGeom prst="rect">
            <a:avLst/>
          </a:prstGeom>
          <a:solidFill>
            <a:srgbClr val="B8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16552" y="3376422"/>
            <a:ext cx="685800" cy="5829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B2B"/>
                </a:solidFill>
                <a:latin typeface="Noto Sans CJK SC"/>
                <a:ea typeface="Noto Sans CJK SC"/>
              </a:rPr>
              <a:t>优化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04704" y="3522154"/>
            <a:ext cx="1252728" cy="291465"/>
          </a:xfrm>
          <a:prstGeom prst="rect">
            <a:avLst/>
          </a:prstGeom>
          <a:solidFill>
            <a:srgbClr val="B8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93792" y="3995928"/>
            <a:ext cx="6263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C8C8C"/>
                </a:solidFill>
                <a:latin typeface="Noto Sans CJK SC"/>
                <a:ea typeface="Noto Sans CJK SC"/>
              </a:rPr>
              <a:t>2026Q3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20155" y="3995928"/>
            <a:ext cx="6263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C8C8C"/>
                </a:solidFill>
                <a:latin typeface="Noto Sans CJK SC"/>
                <a:ea typeface="Noto Sans CJK SC"/>
              </a:rPr>
              <a:t>2026Q4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3995928"/>
            <a:ext cx="6263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C8C8C"/>
                </a:solidFill>
                <a:latin typeface="Noto Sans CJK SC"/>
                <a:ea typeface="Noto Sans CJK SC"/>
              </a:rPr>
              <a:t>2027Q1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72883" y="3995928"/>
            <a:ext cx="6263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C8C8C"/>
                </a:solidFill>
                <a:latin typeface="Noto Sans CJK SC"/>
                <a:ea typeface="Noto Sans CJK SC"/>
              </a:rPr>
              <a:t>2027Q2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99248" y="3995928"/>
            <a:ext cx="6263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C8C8C"/>
                </a:solidFill>
                <a:latin typeface="Noto Sans CJK SC"/>
                <a:ea typeface="Noto Sans CJK SC"/>
              </a:rPr>
              <a:t>2027Q3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5612" y="3995928"/>
            <a:ext cx="6263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C8C8C"/>
                </a:solidFill>
                <a:latin typeface="Noto Sans CJK SC"/>
                <a:ea typeface="Noto Sans CJK SC"/>
              </a:rPr>
              <a:t>2027Q4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51976" y="3995928"/>
            <a:ext cx="6263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C8C8C"/>
                </a:solidFill>
                <a:latin typeface="Noto Sans CJK SC"/>
                <a:ea typeface="Noto Sans CJK SC"/>
              </a:rPr>
              <a:t>2028Q1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78340" y="3995928"/>
            <a:ext cx="6263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C8C8C"/>
                </a:solidFill>
                <a:latin typeface="Noto Sans CJK SC"/>
                <a:ea typeface="Noto Sans CJK SC"/>
              </a:rPr>
              <a:t>2028Q2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04704" y="3995928"/>
            <a:ext cx="6263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C8C8C"/>
                </a:solidFill>
                <a:latin typeface="Noto Sans CJK SC"/>
                <a:ea typeface="Noto Sans CJK SC"/>
              </a:rPr>
              <a:t>2028Q3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31067" y="3995928"/>
            <a:ext cx="6263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C8C8C"/>
                </a:solidFill>
                <a:latin typeface="Noto Sans CJK SC"/>
                <a:ea typeface="Noto Sans CJK SC"/>
              </a:rPr>
              <a:t>2028Q4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33672" y="4197096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Noto Sans CJK SC"/>
                <a:ea typeface="Noto Sans CJK SC"/>
              </a:rPr>
              <a:t>季度（自2026Q3起）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33672" y="4471416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Noto Sans CJK SC"/>
                <a:ea typeface="Noto Sans CJK SC"/>
              </a:rPr>
              <a:t>关键节点：</a:t>
            </a:r>
            <a:r>
              <a:rPr sz="1000" b="1" i="0">
                <a:solidFill>
                  <a:srgbClr val="B81F24"/>
                </a:solidFill>
                <a:latin typeface="Noto Sans CJK SC"/>
                <a:ea typeface="Noto Sans CJK SC"/>
              </a:rPr>
              <a:t>试点上线（2027Q1）</a:t>
            </a: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 ／ </a:t>
            </a:r>
            <a:r>
              <a:rPr sz="1000" b="1" i="0">
                <a:solidFill>
                  <a:srgbClr val="B81F24"/>
                </a:solidFill>
                <a:latin typeface="Noto Sans CJK SC"/>
                <a:ea typeface="Noto Sans CJK SC"/>
              </a:rPr>
              <a:t>全面推广（2027Q3）</a:t>
            </a: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 ／ </a:t>
            </a:r>
            <a:r>
              <a:rPr sz="1000" b="1" i="0">
                <a:solidFill>
                  <a:srgbClr val="B81F24"/>
                </a:solidFill>
                <a:latin typeface="Noto Sans CJK SC"/>
                <a:ea typeface="Noto Sans CJK SC"/>
              </a:rPr>
              <a:t>效果评估（2028Q4）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413248"/>
            <a:ext cx="11274552" cy="566928"/>
          </a:xfrm>
          <a:prstGeom prst="roundRect">
            <a:avLst>
              <a:gd name="adj" fmla="val 22000"/>
            </a:avLst>
          </a:prstGeom>
          <a:solidFill>
            <a:srgbClr val="F1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31520" y="554126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A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5541264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  <a:ea typeface="Noto Sans CJK SC"/>
              </a:rPr>
              <a:t>保障机制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48840" y="5413248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81F24"/>
                </a:solidFill>
                <a:latin typeface="Noto Sans CJK SC"/>
                <a:ea typeface="Noto Sans CJK SC"/>
              </a:rPr>
              <a:t>三级</a:t>
            </a:r>
            <a:r>
              <a:rPr sz="1100" b="1" i="0">
                <a:solidFill>
                  <a:srgbClr val="2B2B2B"/>
                </a:solidFill>
                <a:latin typeface="Noto Sans CJK SC"/>
                <a:ea typeface="Noto Sans CJK SC"/>
              </a:rPr>
              <a:t> 敏捷项目组 </a:t>
            </a:r>
            <a:r>
              <a:rPr sz="1100" b="1" i="0">
                <a:solidFill>
                  <a:srgbClr val="B81F24"/>
                </a:solidFill>
                <a:latin typeface="Noto Sans CJK SC"/>
                <a:ea typeface="Noto Sans CJK SC"/>
              </a:rPr>
              <a:t>双周</a:t>
            </a:r>
            <a:r>
              <a:rPr sz="1100" b="1" i="0">
                <a:solidFill>
                  <a:srgbClr val="2B2B2B"/>
                </a:solidFill>
                <a:latin typeface="Noto Sans CJK SC"/>
                <a:ea typeface="Noto Sans CJK SC"/>
              </a:rPr>
              <a:t> 复盘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074920" y="5541264"/>
            <a:ext cx="0" cy="310896"/>
          </a:xfrm>
          <a:prstGeom prst="line">
            <a:avLst/>
          </a:prstGeom>
          <a:ln w="9525">
            <a:solidFill>
              <a:srgbClr val="C9C2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349240" y="541324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Noto Sans CJK SC"/>
                <a:ea typeface="Noto Sans CJK SC"/>
              </a:rPr>
              <a:t>首年专项预算</a:t>
            </a:r>
            <a:r>
              <a:rPr sz="1100" b="1" i="0">
                <a:solidFill>
                  <a:srgbClr val="B81F24"/>
                </a:solidFill>
                <a:latin typeface="Noto Sans CJK SC"/>
                <a:ea typeface="Noto Sans CJK SC"/>
              </a:rPr>
              <a:t> ≥1.2亿元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635240" y="5541264"/>
            <a:ext cx="0" cy="310896"/>
          </a:xfrm>
          <a:prstGeom prst="line">
            <a:avLst/>
          </a:prstGeom>
          <a:ln w="9525">
            <a:solidFill>
              <a:srgbClr val="C9C2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909560" y="5413248"/>
            <a:ext cx="3474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Noto Sans CJK SC"/>
                <a:ea typeface="Noto Sans CJK SC"/>
              </a:rPr>
              <a:t>培训覆盖</a:t>
            </a:r>
            <a:r>
              <a:rPr sz="1100" b="1" i="0">
                <a:solidFill>
                  <a:srgbClr val="B81F24"/>
                </a:solidFill>
                <a:latin typeface="Noto Sans CJK SC"/>
                <a:ea typeface="Noto Sans CJK SC"/>
              </a:rPr>
              <a:t> 95% </a:t>
            </a:r>
            <a:r>
              <a:rPr sz="1100" b="1" i="0">
                <a:solidFill>
                  <a:srgbClr val="2B2B2B"/>
                </a:solidFill>
                <a:latin typeface="Noto Sans CJK SC"/>
                <a:ea typeface="Noto Sans CJK SC"/>
              </a:rPr>
              <a:t>零售条线员工</a:t>
            </a:r>
          </a:p>
        </p:txBody>
      </p:sp>
      <p:sp>
        <p:nvSpPr>
          <p:cNvPr id="83" name="Diamond 82"/>
          <p:cNvSpPr/>
          <p:nvPr/>
        </p:nvSpPr>
        <p:spPr>
          <a:xfrm>
            <a:off x="11128248" y="5458968"/>
            <a:ext cx="566928" cy="566928"/>
          </a:xfrm>
          <a:prstGeom prst="diamond">
            <a:avLst/>
          </a:prstGeom>
          <a:noFill/>
          <a:ln w="12700">
            <a:solidFill>
              <a:srgbClr val="B81F24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B81F24">
                    <a:alpha val="35000"/>
                  </a:srgbClr>
                </a:solidFill>
                <a:latin typeface="Noto Sans CJK SC"/>
                <a:ea typeface="Noto Sans CJK SC"/>
              </a:rPr>
              <a:t>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6172200"/>
            <a:ext cx="11274552" cy="9144"/>
          </a:xfrm>
          <a:prstGeom prst="rect">
            <a:avLst/>
          </a:prstGeom>
          <a:solidFill>
            <a:srgbClr val="C9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62362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产品运营组</a:t>
            </a:r>
            <a:r>
              <a:rPr sz="1000" b="0" i="0">
                <a:solidFill>
                  <a:srgbClr val="C9C2B6"/>
                </a:solidFill>
                <a:latin typeface="Noto Sans CJK SC"/>
                <a:ea typeface="Noto Sans CJK SC"/>
              </a:rPr>
              <a:t>   数字驱动 稳健致远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6236208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2026</a:t>
            </a: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   |   </a:t>
            </a:r>
            <a:r>
              <a:rPr sz="1000" b="1" i="0">
                <a:solidFill>
                  <a:srgbClr val="B81F24"/>
                </a:solidFill>
                <a:latin typeface="Noto Sans CJK SC"/>
                <a:ea typeface="Noto Sans CJK SC"/>
              </a:rPr>
              <a:t>10</a:t>
            </a: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