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营业收入（亿元）</c:v>
                </c:pt>
              </c:strCache>
            </c:strRef>
          </c:tx>
          <c:spPr>
            <a:ln w="31750">
              <a:solidFill>
                <a:srgbClr val="B81F24"/>
              </a:solidFill>
            </a:ln>
          </c:spPr>
          <c:marker>
            <c:symbol val="circle"/>
            <c:spPr>
              <a:solidFill>
                <a:srgbClr val="B81F24"/>
              </a:solidFill>
              <a:ln>
                <a:solidFill>
                  <a:srgbClr val="B81F24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68.2</c:v>
                </c:pt>
                <c:pt idx="1">
                  <c:v>78.9</c:v>
                </c:pt>
                <c:pt idx="2">
                  <c:v>89.6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净利润（亿元）</c:v>
                </c:pt>
              </c:strCache>
            </c:strRef>
          </c:tx>
          <c:spPr>
            <a:ln w="22225">
              <a:solidFill>
                <a:srgbClr val="9A9A9A"/>
              </a:solidFill>
              <a:prstDash val="dash"/>
            </a:ln>
          </c:spPr>
          <c:marker>
            <c:symbol val="circle"/>
            <c:spPr>
              <a:solidFill>
                <a:srgbClr val="9A9A9A"/>
              </a:solidFill>
              <a:ln>
                <a:solidFill>
                  <a:srgbClr val="9A9A9A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21.5</c:v>
                </c:pt>
                <c:pt idx="1">
                  <c:v>26.8</c:v>
                </c:pt>
                <c:pt idx="2">
                  <c:v>32.4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D7CC"/>
            </a:solidFill>
          </a:ln>
        </c:spPr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.0"/>
          <c:min val="0.0"/>
        </c:scaling>
        <c:delete val="0"/>
        <c:axPos val="l"/>
        <c:majorGridlines>
          <c:spPr>
            <a:ln w="6350">
              <a:solidFill>
                <a:srgbClr val="ECE7D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00">
                    <a:solidFill>
                      <a:srgbClr val="8C8C8C"/>
                    </a:solidFill>
                  </a:rPr>
                  <a:t>金额（亿元）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C8C8C"/>
                </a:solidFill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256032" y="502920"/>
            <a:ext cx="246888" cy="0"/>
          </a:xfrm>
          <a:prstGeom prst="line">
            <a:avLst/>
          </a:prstGeom>
          <a:ln w="1270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56032" y="256032"/>
            <a:ext cx="0" cy="246888"/>
          </a:xfrm>
          <a:prstGeom prst="line">
            <a:avLst/>
          </a:prstGeom>
          <a:ln w="1270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86032" y="6355080"/>
            <a:ext cx="246888" cy="0"/>
          </a:xfrm>
          <a:prstGeom prst="line">
            <a:avLst/>
          </a:prstGeom>
          <a:ln w="1270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32920" y="6355080"/>
            <a:ext cx="0" cy="246888"/>
          </a:xfrm>
          <a:prstGeom prst="line">
            <a:avLst/>
          </a:prstGeom>
          <a:ln w="12700">
            <a:solidFill>
              <a:srgbClr val="C9C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384048"/>
            <a:ext cx="82296" cy="82296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2608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B81F24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8C8C8C"/>
                </a:solidFill>
                <a:latin typeface="Noto Sans CJK SC"/>
                <a:ea typeface="Noto Sans CJK SC"/>
              </a:rPr>
              <a:t>CHAPTER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3035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Noto Sans CJK SC"/>
                <a:ea typeface="Noto Sans CJK SC"/>
              </a:rPr>
              <a:t>第 5 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918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B2B2B"/>
                </a:solidFill>
                <a:latin typeface="Noto Sans CJK SC"/>
                <a:ea typeface="Noto Sans CJK SC"/>
              </a:rPr>
              <a:t>收入贡献与成本效益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475488"/>
            <a:ext cx="82296" cy="82296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365760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产品运营组</a:t>
            </a: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　零售业务数字化转型三年行动方案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932688"/>
            <a:ext cx="11274552" cy="10972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078992"/>
            <a:ext cx="11274552" cy="402336"/>
          </a:xfrm>
          <a:prstGeom prst="roundRect">
            <a:avLst>
              <a:gd name="adj" fmla="val 18000"/>
            </a:avLst>
          </a:prstGeom>
          <a:solidFill>
            <a:srgbClr val="F8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1248156"/>
            <a:ext cx="82296" cy="82296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1078992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8F1518"/>
                </a:solidFill>
                <a:latin typeface="Noto Sans CJK SC"/>
                <a:ea typeface="Noto Sans CJK SC"/>
              </a:rPr>
              <a:t>三年新增中间业务收入约</a:t>
            </a:r>
            <a:r>
              <a:rPr sz="1250" b="1" i="0">
                <a:solidFill>
                  <a:srgbClr val="B81F24"/>
                </a:solidFill>
                <a:latin typeface="Noto Sans CJK SC"/>
                <a:ea typeface="Noto Sans CJK SC"/>
              </a:rPr>
              <a:t>8.6亿元</a:t>
            </a:r>
            <a:r>
              <a:rPr sz="1250" b="1" i="0">
                <a:solidFill>
                  <a:srgbClr val="8F1518"/>
                </a:solidFill>
                <a:latin typeface="Noto Sans CJK SC"/>
                <a:ea typeface="Noto Sans CJK SC"/>
              </a:rPr>
              <a:t>，成本收入比由</a:t>
            </a:r>
            <a:r>
              <a:rPr sz="1250" b="1" i="0">
                <a:solidFill>
                  <a:srgbClr val="B81F24"/>
                </a:solidFill>
                <a:latin typeface="Noto Sans CJK SC"/>
                <a:ea typeface="Noto Sans CJK SC"/>
              </a:rPr>
              <a:t>48%</a:t>
            </a:r>
            <a:r>
              <a:rPr sz="1250" b="1" i="0">
                <a:solidFill>
                  <a:srgbClr val="8F1518"/>
                </a:solidFill>
                <a:latin typeface="Noto Sans CJK SC"/>
                <a:ea typeface="Noto Sans CJK SC"/>
              </a:rPr>
              <a:t>优化至</a:t>
            </a:r>
            <a:r>
              <a:rPr sz="1250" b="1" i="0">
                <a:solidFill>
                  <a:srgbClr val="B81F24"/>
                </a:solidFill>
                <a:latin typeface="Noto Sans CJK SC"/>
                <a:ea typeface="Noto Sans CJK SC"/>
              </a:rPr>
              <a:t>42%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664208"/>
            <a:ext cx="35204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179222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81F24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1792224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Noto Sans CJK SC"/>
                <a:ea typeface="Noto Sans CJK SC"/>
              </a:rPr>
              <a:t>收入贡献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048256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B81F24"/>
                </a:solidFill>
                <a:latin typeface="Noto Sans CJK SC"/>
                <a:ea typeface="Noto Sans CJK SC"/>
              </a:rPr>
              <a:t>8.6</a:t>
            </a:r>
            <a:r>
              <a:rPr sz="1200" b="0" i="0">
                <a:solidFill>
                  <a:srgbClr val="8C8C8C"/>
                </a:solidFill>
                <a:latin typeface="Noto Sans CJK SC"/>
                <a:ea typeface="Noto Sans CJK SC"/>
              </a:rPr>
              <a:t>  亿元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532888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三年新增中间业务收入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财富管理手续费占比 55%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90672"/>
            <a:ext cx="35204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21868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81F24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218688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Noto Sans CJK SC"/>
                <a:ea typeface="Noto Sans CJK SC"/>
              </a:rPr>
              <a:t>成本效益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474720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B81F24"/>
                </a:solidFill>
                <a:latin typeface="Noto Sans CJK SC"/>
                <a:ea typeface="Noto Sans CJK SC"/>
              </a:rPr>
              <a:t>↓18%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959352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单网点运营成本下降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三年累计节约约 2.3 亿元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17136"/>
            <a:ext cx="35204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64515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81F24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64515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B2B2B"/>
                </a:solidFill>
                <a:latin typeface="Noto Sans CJK SC"/>
                <a:ea typeface="Noto Sans CJK SC"/>
              </a:rPr>
              <a:t>关键指标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901184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B81F24"/>
                </a:solidFill>
                <a:latin typeface="Noto Sans CJK SC"/>
                <a:ea typeface="Noto Sans CJK SC"/>
              </a:rPr>
              <a:t>14.5%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385816"/>
            <a:ext cx="311810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营收 CAGR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8C8C8C"/>
                </a:solidFill>
                <a:latin typeface="Noto Sans CJK SC"/>
                <a:ea typeface="Noto Sans CJK SC"/>
              </a:rPr>
              <a:t>成本收入比 48%→42%；净利贡献 32%→40%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33672" y="1664208"/>
            <a:ext cx="7498079" cy="4151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181051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81F24"/>
                </a:solidFill>
                <a:latin typeface="Noto Sans CJK SC"/>
                <a:ea typeface="Noto Sans CJK SC"/>
              </a:rPr>
              <a:t>04</a:t>
            </a:r>
            <a:r>
              <a:rPr sz="1300" b="1" i="0">
                <a:solidFill>
                  <a:srgbClr val="2B2B2B"/>
                </a:solidFill>
                <a:latin typeface="Noto Sans CJK SC"/>
                <a:ea typeface="Noto Sans CJK SC"/>
              </a:rPr>
              <a:t>  营收与净利预测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18288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F0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182880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Noto Sans CJK SC"/>
                <a:ea typeface="Noto Sans CJK SC"/>
              </a:rPr>
              <a:t>2026E-2028E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9704" y="2139696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2026E-2028E营业收入与净利润保持两位数稳健增长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9704" y="2496312"/>
            <a:ext cx="109728" cy="109728"/>
          </a:xfrm>
          <a:prstGeom prst="rect">
            <a:avLst/>
          </a:prstGeom>
          <a:solidFill>
            <a:srgbClr val="B8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54296" y="244144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Noto Sans CJK SC"/>
                <a:ea typeface="Noto Sans CJK SC"/>
              </a:rPr>
              <a:t>营业收入（亿元）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2496312"/>
            <a:ext cx="109728" cy="10972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47104" y="244144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B2B2B"/>
                </a:solidFill>
                <a:latin typeface="Noto Sans CJK SC"/>
                <a:ea typeface="Noto Sans CJK SC"/>
              </a:rPr>
              <a:t>净利润（亿元）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4370832" y="2715768"/>
          <a:ext cx="7086599" cy="29169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3" name="Diamond 42"/>
          <p:cNvSpPr/>
          <p:nvPr/>
        </p:nvSpPr>
        <p:spPr>
          <a:xfrm>
            <a:off x="11068812" y="5408676"/>
            <a:ext cx="685800" cy="685800"/>
          </a:xfrm>
          <a:prstGeom prst="diamond">
            <a:avLst/>
          </a:prstGeom>
          <a:noFill/>
          <a:ln w="12700">
            <a:solidFill>
              <a:srgbClr val="B81F24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B81F24">
                    <a:alpha val="35000"/>
                  </a:srgbClr>
                </a:solidFill>
                <a:latin typeface="Noto Sans CJK SC"/>
                <a:ea typeface="Noto Sans CJK SC"/>
              </a:rPr>
              <a:t>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419088"/>
            <a:ext cx="11274552" cy="9144"/>
          </a:xfrm>
          <a:prstGeom prst="rect">
            <a:avLst/>
          </a:prstGeom>
          <a:solidFill>
            <a:srgbClr val="DDD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产品运营组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6473952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C8C8C"/>
                </a:solidFill>
                <a:latin typeface="Noto Sans CJK SC"/>
                <a:ea typeface="Noto Sans CJK SC"/>
              </a:rPr>
              <a:t>2026</a:t>
            </a:r>
            <a:r>
              <a:rPr sz="1000" b="0" i="0">
                <a:solidFill>
                  <a:srgbClr val="8C8C8C"/>
                </a:solidFill>
                <a:latin typeface="Noto Sans CJK SC"/>
                <a:ea typeface="Noto Sans CJK SC"/>
              </a:rPr>
              <a:t>   |   12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