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37744"/>
            <a:ext cx="100584" cy="40233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82880"/>
            <a:ext cx="6858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100" b="1">
                <a:solidFill>
                  <a:srgbClr val="262626"/>
                </a:solidFill>
                <a:latin typeface="Microsoft YaHei"/>
                <a:ea typeface="Microsoft YaHei"/>
              </a:rPr>
              <a:t>低代码应用风险治理体系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20" y="201168"/>
            <a:ext cx="868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高开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9171432" y="201168"/>
            <a:ext cx="868680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低开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67544" y="201168"/>
            <a:ext cx="868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资产沉淀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63656" y="201168"/>
            <a:ext cx="868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AI中台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41248"/>
            <a:ext cx="11292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</a:rPr>
              <a:t>➢ </a:t>
            </a: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低代码平台经多年发展</a:t>
            </a:r>
            <a:r>
              <a:rPr sz="1150" b="1">
                <a:solidFill>
                  <a:srgbClr val="262626"/>
                </a:solidFill>
                <a:latin typeface="Microsoft YaHei"/>
                <a:ea typeface="Microsoft YaHei"/>
              </a:rPr>
              <a:t>由快速扩张转入存量管理阶段</a:t>
            </a: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，基于行内管理规范和审计要求，逐步形成</a:t>
            </a:r>
            <a:r>
              <a:rPr sz="1150" b="1">
                <a:solidFill>
                  <a:srgbClr val="262626"/>
                </a:solidFill>
                <a:latin typeface="Microsoft YaHei"/>
                <a:ea typeface="Microsoft YaHei"/>
              </a:rPr>
              <a:t>体系化治理能力</a:t>
            </a: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62626"/>
                </a:solidFill>
                <a:latin typeface="Microsoft YaHei"/>
                <a:ea typeface="Microsoft YaHei"/>
              </a:rPr>
              <a:t>➢ </a:t>
            </a: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实现了从</a:t>
            </a:r>
            <a:r>
              <a:rPr sz="1150" b="1">
                <a:solidFill>
                  <a:srgbClr val="262626"/>
                </a:solidFill>
                <a:latin typeface="Microsoft YaHei"/>
                <a:ea typeface="Microsoft YaHei"/>
              </a:rPr>
              <a:t>被动审计到主动防控</a:t>
            </a: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、从</a:t>
            </a:r>
            <a:r>
              <a:rPr sz="1150" b="1">
                <a:solidFill>
                  <a:srgbClr val="262626"/>
                </a:solidFill>
                <a:latin typeface="Microsoft YaHei"/>
                <a:ea typeface="Microsoft YaHei"/>
              </a:rPr>
              <a:t>单点治理到体系化管理</a:t>
            </a: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的转变。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1810512"/>
            <a:ext cx="0" cy="4727448"/>
          </a:xfrm>
          <a:prstGeom prst="line">
            <a:avLst/>
          </a:prstGeom>
          <a:ln w="12700">
            <a:solidFill>
              <a:srgbClr val="D9D9D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103120" y="1810512"/>
            <a:ext cx="201168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2026年进展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04288"/>
            <a:ext cx="4937760" cy="1481328"/>
          </a:xfrm>
          <a:prstGeom prst="rect">
            <a:avLst/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</a:rPr>
              <a:t>低开平台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706624"/>
            <a:ext cx="1499616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79776"/>
            <a:ext cx="14996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262626"/>
                </a:solidFill>
                <a:latin typeface="Microsoft YaHei"/>
                <a:ea typeface="Microsoft YaHei"/>
              </a:rPr>
              <a:t>新增应用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17520"/>
            <a:ext cx="14996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  <a:latin typeface="Microsoft YaHei"/>
                <a:ea typeface="Microsoft YaHei"/>
              </a:rPr>
              <a:t>6538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19856"/>
            <a:ext cx="14996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750" b="0">
                <a:solidFill>
                  <a:srgbClr val="7F7F7F"/>
                </a:solidFill>
                <a:latin typeface="Microsoft YaHei"/>
                <a:ea typeface="Microsoft YaHei"/>
              </a:rPr>
              <a:t>2024全年7549个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6584" y="2706624"/>
            <a:ext cx="1499616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6584" y="2779776"/>
            <a:ext cx="14996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262626"/>
                </a:solidFill>
                <a:latin typeface="Microsoft YaHei"/>
                <a:ea typeface="Microsoft YaHei"/>
              </a:rPr>
              <a:t>新增开发者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6584" y="3017520"/>
            <a:ext cx="14996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  <a:latin typeface="Microsoft YaHei"/>
                <a:ea typeface="Microsoft YaHei"/>
              </a:rPr>
              <a:t>2621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 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6584" y="3419856"/>
            <a:ext cx="14996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750" b="0">
                <a:solidFill>
                  <a:srgbClr val="7F7F7F"/>
                </a:solidFill>
                <a:latin typeface="Microsoft YaHei"/>
                <a:ea typeface="Microsoft YaHei"/>
              </a:rPr>
              <a:t>累计在职18183人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95927" y="2706624"/>
            <a:ext cx="1499616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5927" y="2779776"/>
            <a:ext cx="14996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>
                <a:solidFill>
                  <a:srgbClr val="262626"/>
                </a:solidFill>
                <a:latin typeface="Microsoft YaHei"/>
                <a:ea typeface="Microsoft YaHei"/>
              </a:rPr>
              <a:t>整体存量风险降低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927" y="3017520"/>
            <a:ext cx="14996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C00000"/>
                </a:solidFill>
                <a:latin typeface="Microsoft YaHei"/>
                <a:ea typeface="Microsoft YaHei"/>
              </a:rPr>
              <a:t>[X]%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50208"/>
            <a:ext cx="52120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数据安全风险治理：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已建成覆盖个保合规、涉敏数据、权限管控等全链路自动化扫描和治理能力，累计识别疑似风险 [X] 项，完成存量风险处置 [X] 项，</a:t>
            </a:r>
            <a:r>
              <a:rPr sz="950" b="1">
                <a:solidFill>
                  <a:srgbClr val="262626"/>
                </a:solidFill>
                <a:latin typeface="Microsoft YaHei"/>
                <a:ea typeface="Microsoft YaHei"/>
              </a:rPr>
              <a:t>数据安全风险压降 [X]%。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运行安全风险治理：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已建成覆盖资源占用与运行稳定的常态化排查治理能力，累计识别疑似风险 [X] 项，完成存量风险处置 [X] 项，</a:t>
            </a:r>
            <a:r>
              <a:rPr sz="950" b="1">
                <a:solidFill>
                  <a:srgbClr val="262626"/>
                </a:solidFill>
                <a:latin typeface="Microsoft YaHei"/>
                <a:ea typeface="Microsoft YaHei"/>
              </a:rPr>
              <a:t>平台告警下降 [X]%、释放闲置资源 [X]G。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研发管理风险治理：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已建成面向低开应用全过程的研发规范扫描治理能力，累计识别疑似风险 [X] 项，完成存量风险处置 [X] 项，</a:t>
            </a:r>
            <a:r>
              <a:rPr sz="950" b="1">
                <a:solidFill>
                  <a:srgbClr val="262626"/>
                </a:solidFill>
                <a:latin typeface="Microsoft YaHei"/>
                <a:ea typeface="Microsoft YaHei"/>
              </a:rPr>
              <a:t>研发过程合规应用占比提升至 [X]%。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1810512"/>
            <a:ext cx="2011680" cy="38404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问题与挑战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304288"/>
            <a:ext cx="5440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业务侧风险管控意识有待增强。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面向业务人员的风险宣贯培训与处置指引尚不完善，开发过程易引入风险隐患，处置缺乏经验支撑。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处置闭环督办机制有待健全。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治理链路缺乏有效的督办与正向激励抓手，风险填报与整改周期偏长，影响闭环时效。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>
                <a:solidFill>
                  <a:srgbClr val="595959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</a:rPr>
              <a:t>风险复发管控手段有待完善。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部分应用同类风险治理后仍有复发，现阶段仅以重复提醒为主，递进式的管控手段有待补充。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4005072"/>
            <a:ext cx="2011680" cy="3840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未来计划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517136"/>
            <a:ext cx="54406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强化风险宣贯与赋能：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联合工程效能团队，通过培训引导与风险案例宣贯，沉淀处置指引，提升业务侧风险管控意识与处置能力。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健全督办与正向激励机制：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优化温和督办方式持续跟进未闭环任务，推行治理红黑榜策略，鼓励用户积极参与治理，提升填报与整改时效。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建立分级递进的治理策略：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构建“提醒→督办→访问限流”的分级管控策略，对同类风险反复出现的应用逐级升级措施，有效遏制风险复发。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▪ </a:t>
            </a: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建设风险知识案例库：</a:t>
            </a: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</a:rPr>
              <a:t>持续沉淀风险案例、处置经验与最佳实践，建成可检索、可复用的治理知识库，支持业务赋能和经验传承。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